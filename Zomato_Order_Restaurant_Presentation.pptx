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8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9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10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11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12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13.xml" ContentType="application/vnd.openxmlformats-officedocument.presentationml.notes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168" autoAdjust="0"/>
  </p:normalViewPr>
  <p:slideViewPr>
    <p:cSldViewPr snapToGrid="0" snapToObjects="1">
      <p:cViewPr varScale="1">
        <p:scale>
          <a:sx n="47" d="100"/>
          <a:sy n="47" d="100"/>
        </p:scale>
        <p:origin x="157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100" b="1">
                <a:solidFill>
                  <a:srgbClr val="1F3864"/>
                </a:solidFill>
              </a:rPr>
              <a:t>Half-year revenue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(Rs)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H1 2024</c:v>
                </c:pt>
                <c:pt idx="1">
                  <c:v>H2 2024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7779479.8600000003</c:v>
                </c:pt>
                <c:pt idx="1">
                  <c:v>7794406.7800000003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E32-460A-9EED-566C6F85AA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Payment mix - even by design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dPt>
            <c:idx val="0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1-A4F9-42AC-80E5-AA9A3FFE1592}"/>
              </c:ext>
            </c:extLst>
          </c:dPt>
          <c:dPt>
            <c:idx val="1"/>
            <c:bubble3D val="0"/>
            <c:spPr>
              <a:solidFill>
                <a:srgbClr val="548235"/>
              </a:solidFill>
            </c:spPr>
            <c:extLst>
              <c:ext xmlns:c16="http://schemas.microsoft.com/office/drawing/2014/chart" uri="{C3380CC4-5D6E-409C-BE32-E72D297353CC}">
                <c16:uniqueId val="{00000003-A4F9-42AC-80E5-AA9A3FFE1592}"/>
              </c:ext>
            </c:extLst>
          </c:dPt>
          <c:dPt>
            <c:idx val="2"/>
            <c:bubble3D val="0"/>
            <c:spPr>
              <a:solidFill>
                <a:srgbClr val="BF8F00"/>
              </a:solidFill>
            </c:spPr>
            <c:extLst>
              <c:ext xmlns:c16="http://schemas.microsoft.com/office/drawing/2014/chart" uri="{C3380CC4-5D6E-409C-BE32-E72D297353CC}">
                <c16:uniqueId val="{00000005-A4F9-42AC-80E5-AA9A3FFE1592}"/>
              </c:ext>
            </c:extLst>
          </c:dPt>
          <c:dPt>
            <c:idx val="3"/>
            <c:bubble3D val="0"/>
            <c:spPr>
              <a:solidFill>
                <a:srgbClr val="E23744"/>
              </a:solidFill>
            </c:spPr>
            <c:extLst>
              <c:ext xmlns:c16="http://schemas.microsoft.com/office/drawing/2014/chart" uri="{C3380CC4-5D6E-409C-BE32-E72D297353CC}">
                <c16:uniqueId val="{00000007-A4F9-42AC-80E5-AA9A3FFE1592}"/>
              </c:ext>
            </c:extLst>
          </c:dPt>
          <c:dPt>
            <c:idx val="4"/>
            <c:bubble3D val="0"/>
            <c:spPr>
              <a:solidFill>
                <a:srgbClr val="1F3864"/>
              </a:solidFill>
            </c:spPr>
            <c:extLst>
              <c:ext xmlns:c16="http://schemas.microsoft.com/office/drawing/2014/chart" uri="{C3380CC4-5D6E-409C-BE32-E72D297353CC}">
                <c16:uniqueId val="{00000009-A4F9-42AC-80E5-AA9A3FFE1592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UPI</c:v>
                </c:pt>
                <c:pt idx="2">
                  <c:v>Wallet</c:v>
                </c:pt>
                <c:pt idx="3">
                  <c:v>Net Banking</c:v>
                </c:pt>
                <c:pt idx="4">
                  <c:v>COD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3050</c:v>
                </c:pt>
                <c:pt idx="1">
                  <c:v>3028</c:v>
                </c:pt>
                <c:pt idx="2">
                  <c:v>2988</c:v>
                </c:pt>
                <c:pt idx="3">
                  <c:v>2984</c:v>
                </c:pt>
                <c:pt idx="4">
                  <c:v>2950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F9-42AC-80E5-AA9A3FFE159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Orders vs restaurant count x 30 - the bars are the same height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3384</c:v>
                </c:pt>
                <c:pt idx="1">
                  <c:v>3300</c:v>
                </c:pt>
                <c:pt idx="2">
                  <c:v>2857</c:v>
                </c:pt>
                <c:pt idx="3">
                  <c:v>2732</c:v>
                </c:pt>
                <c:pt idx="4">
                  <c:v>2727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8E5-42C5-AD1A-E418932BAE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Restaurants x 30</c:v>
                </c:pt>
              </c:strCache>
            </c:strRef>
          </c:tx>
          <c:spPr>
            <a:solidFill>
              <a:srgbClr val="BF8F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3450</c:v>
                </c:pt>
                <c:pt idx="1">
                  <c:v>3270</c:v>
                </c:pt>
                <c:pt idx="2">
                  <c:v>2790</c:v>
                </c:pt>
                <c:pt idx="3">
                  <c:v>2760</c:v>
                </c:pt>
                <c:pt idx="4">
                  <c:v>2730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8E5-42C5-AD1A-E418932BA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Orders per restaurant - flat across all five cities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 per restaurant</c:v>
                </c:pt>
              </c:strCache>
            </c:strRef>
          </c:tx>
          <c:spPr>
            <a:solidFill>
              <a:srgbClr val="548235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29.43</c:v>
                </c:pt>
                <c:pt idx="1">
                  <c:v>30.28</c:v>
                </c:pt>
                <c:pt idx="2">
                  <c:v>30.72</c:v>
                </c:pt>
                <c:pt idx="3">
                  <c:v>29.7</c:v>
                </c:pt>
                <c:pt idx="4">
                  <c:v>29.97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E19-43D6-AEF9-29C26FD035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Order-count tests: significant until you adjust for supply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Chi-sq vs even split</c:v>
                </c:pt>
              </c:strCache>
            </c:strRef>
          </c:tx>
          <c:spPr>
            <a:solidFill>
              <a:srgbClr val="BF8F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city</c:v>
                </c:pt>
                <c:pt idx="1">
                  <c:v>cuisine</c:v>
                </c:pt>
                <c:pt idx="2">
                  <c:v>area</c:v>
                </c:pt>
                <c:pt idx="3">
                  <c:v>price_range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134.75</c:v>
                </c:pt>
                <c:pt idx="1">
                  <c:v>96.45</c:v>
                </c:pt>
                <c:pt idx="2">
                  <c:v>44.55</c:v>
                </c:pt>
                <c:pt idx="3">
                  <c:v>50.59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E9D-4BC0-B207-6BC8B31375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Chi-sq vs supply</c:v>
                </c:pt>
              </c:strCache>
            </c:strRef>
          </c:tx>
          <c:spPr>
            <a:solidFill>
              <a:srgbClr val="548235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city</c:v>
                </c:pt>
                <c:pt idx="1">
                  <c:v>cuisine</c:v>
                </c:pt>
                <c:pt idx="2">
                  <c:v>area</c:v>
                </c:pt>
                <c:pt idx="3">
                  <c:v>price_range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3.43</c:v>
                </c:pt>
                <c:pt idx="1">
                  <c:v>2.38</c:v>
                </c:pt>
                <c:pt idx="2">
                  <c:v>1.9</c:v>
                </c:pt>
                <c:pt idx="3">
                  <c:v>4.6900000000000004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E9D-4BC0-B207-6BC8B31375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Critical value (0.05)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city</c:v>
                </c:pt>
                <c:pt idx="1">
                  <c:v>cuisine</c:v>
                </c:pt>
                <c:pt idx="2">
                  <c:v>area</c:v>
                </c:pt>
                <c:pt idx="3">
                  <c:v>price_range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9.4879999999999995</c:v>
                </c:pt>
                <c:pt idx="1">
                  <c:v>9.4879999999999995</c:v>
                </c:pt>
                <c:pt idx="2">
                  <c:v>9.4879999999999995</c:v>
                </c:pt>
                <c:pt idx="3">
                  <c:v>5.9909999999999997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E9D-4BC0-B207-6BC8B31375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ANOVA: no measure differs by segment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Largest F across segments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total_cost</c:v>
                </c:pt>
                <c:pt idx="1">
                  <c:v>delivery_time</c:v>
                </c:pt>
                <c:pt idx="2">
                  <c:v>customer_rating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0.85099999999999998</c:v>
                </c:pt>
                <c:pt idx="1">
                  <c:v>0.79800000000000004</c:v>
                </c:pt>
                <c:pt idx="2">
                  <c:v>2.5670000000000002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A1D-491D-9B3C-4F062C3191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 value ≈2.4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total_cost</c:v>
                </c:pt>
                <c:pt idx="1">
                  <c:v>delivery_time</c:v>
                </c:pt>
                <c:pt idx="2">
                  <c:v>customer_rating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2.37</c:v>
                </c:pt>
                <c:pt idx="1">
                  <c:v>2.37</c:v>
                </c:pt>
                <c:pt idx="2">
                  <c:v>2.37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A1D-491D-9B3C-4F062C3191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Restaurant count vs an even 100-per-city allocation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115</c:v>
                </c:pt>
                <c:pt idx="1">
                  <c:v>109</c:v>
                </c:pt>
                <c:pt idx="2">
                  <c:v>93</c:v>
                </c:pt>
                <c:pt idx="3">
                  <c:v>92</c:v>
                </c:pt>
                <c:pt idx="4">
                  <c:v>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4C3-4B96-8C34-AE6C55BDDD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if even</c:v>
                </c:pt>
              </c:strCache>
            </c:strRef>
          </c:tx>
          <c:spPr>
            <a:solidFill>
              <a:srgbClr val="BF8F0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4C3-4B96-8C34-AE6C55BDDD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Each city's contribution to a chi-square of 5.00 (critical value 9.49)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Chi-square contribution</c:v>
                </c:pt>
              </c:strCache>
            </c:strRef>
          </c:tx>
          <c:spPr>
            <a:solidFill>
              <a:srgbClr val="548235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Chennai</c:v>
                </c:pt>
                <c:pt idx="1">
                  <c:v>Kolkata</c:v>
                </c:pt>
                <c:pt idx="2">
                  <c:v>Delhi</c:v>
                </c:pt>
                <c:pt idx="3">
                  <c:v>Bangalore</c:v>
                </c:pt>
                <c:pt idx="4">
                  <c:v>Mumbai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0.81</c:v>
                </c:pt>
                <c:pt idx="1">
                  <c:v>0.64</c:v>
                </c:pt>
                <c:pt idx="2">
                  <c:v>0.49</c:v>
                </c:pt>
                <c:pt idx="3">
                  <c:v>0.81</c:v>
                </c:pt>
                <c:pt idx="4">
                  <c:v>2.25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82-4296-A5CC-392AA267FF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Share of total orders by city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dPt>
            <c:idx val="0"/>
            <c:bubble3D val="0"/>
            <c:spPr>
              <a:solidFill>
                <a:srgbClr val="E23744"/>
              </a:solidFill>
            </c:spPr>
            <c:extLst>
              <c:ext xmlns:c16="http://schemas.microsoft.com/office/drawing/2014/chart" uri="{C3380CC4-5D6E-409C-BE32-E72D297353CC}">
                <c16:uniqueId val="{00000001-D1BA-4C49-A885-FF91291D393C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D1BA-4C49-A885-FF91291D393C}"/>
              </c:ext>
            </c:extLst>
          </c:dPt>
          <c:dPt>
            <c:idx val="2"/>
            <c:bubble3D val="0"/>
            <c:spPr>
              <a:solidFill>
                <a:srgbClr val="548235"/>
              </a:solidFill>
            </c:spPr>
            <c:extLst>
              <c:ext xmlns:c16="http://schemas.microsoft.com/office/drawing/2014/chart" uri="{C3380CC4-5D6E-409C-BE32-E72D297353CC}">
                <c16:uniqueId val="{00000005-D1BA-4C49-A885-FF91291D393C}"/>
              </c:ext>
            </c:extLst>
          </c:dPt>
          <c:dPt>
            <c:idx val="3"/>
            <c:bubble3D val="0"/>
            <c:spPr>
              <a:solidFill>
                <a:srgbClr val="BF8F00"/>
              </a:solidFill>
            </c:spPr>
            <c:extLst>
              <c:ext xmlns:c16="http://schemas.microsoft.com/office/drawing/2014/chart" uri="{C3380CC4-5D6E-409C-BE32-E72D297353CC}">
                <c16:uniqueId val="{00000007-D1BA-4C49-A885-FF91291D393C}"/>
              </c:ext>
            </c:extLst>
          </c:dPt>
          <c:dPt>
            <c:idx val="4"/>
            <c:bubble3D val="0"/>
            <c:spPr>
              <a:solidFill>
                <a:srgbClr val="1F3864"/>
              </a:solidFill>
            </c:spPr>
            <c:extLst>
              <c:ext xmlns:c16="http://schemas.microsoft.com/office/drawing/2014/chart" uri="{C3380CC4-5D6E-409C-BE32-E72D297353CC}">
                <c16:uniqueId val="{00000009-D1BA-4C49-A885-FF91291D393C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3384</c:v>
                </c:pt>
                <c:pt idx="1">
                  <c:v>3300</c:v>
                </c:pt>
                <c:pt idx="2">
                  <c:v>2857</c:v>
                </c:pt>
                <c:pt idx="3">
                  <c:v>2732</c:v>
                </c:pt>
                <c:pt idx="4">
                  <c:v>2727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BA-4C49-A885-FF91291D393C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Order share vs restaurant share - near-identical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orders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22.56</c:v>
                </c:pt>
                <c:pt idx="1">
                  <c:v>22</c:v>
                </c:pt>
                <c:pt idx="2">
                  <c:v>19.05</c:v>
                </c:pt>
                <c:pt idx="3">
                  <c:v>18.21</c:v>
                </c:pt>
                <c:pt idx="4">
                  <c:v>18.18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92C-4AD8-808E-966CE60BC9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restaurants</c:v>
                </c:pt>
              </c:strCache>
            </c:strRef>
          </c:tx>
          <c:spPr>
            <a:solidFill>
              <a:srgbClr val="BF8F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23</c:v>
                </c:pt>
                <c:pt idx="1">
                  <c:v>21.8</c:v>
                </c:pt>
                <c:pt idx="2">
                  <c:v>18.600000000000001</c:v>
                </c:pt>
                <c:pt idx="3">
                  <c:v>18.399999999999999</c:v>
                </c:pt>
                <c:pt idx="4">
                  <c:v>18.2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92C-4AD8-808E-966CE60BC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Demand/supply index - 1.00 means perfectly proportional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Demand / supply index</c:v>
                </c:pt>
              </c:strCache>
            </c:strRef>
          </c:tx>
          <c:spPr>
            <a:solidFill>
              <a:srgbClr val="548235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Chennai</c:v>
                </c:pt>
                <c:pt idx="1">
                  <c:v>Kolkata</c:v>
                </c:pt>
                <c:pt idx="2">
                  <c:v>Delhi</c:v>
                </c:pt>
                <c:pt idx="3">
                  <c:v>Bangalore</c:v>
                </c:pt>
                <c:pt idx="4">
                  <c:v>Mumbai</c:v>
                </c:pt>
              </c:strCache>
            </c:strRef>
          </c:cat>
          <c:val>
            <c:numRef>
              <c:f>Sheet1!$B$2:$B$6</c:f>
              <c:numCache>
                <c:formatCode>0.000</c:formatCode>
                <c:ptCount val="5"/>
                <c:pt idx="0">
                  <c:v>0.999</c:v>
                </c:pt>
                <c:pt idx="1">
                  <c:v>0.99</c:v>
                </c:pt>
                <c:pt idx="2">
                  <c:v>1.024</c:v>
                </c:pt>
                <c:pt idx="3">
                  <c:v>1.0089999999999999</c:v>
                </c:pt>
                <c:pt idx="4">
                  <c:v>0.98099999999999998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FCC-4AC3-80A0-4DDD2AB395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.00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Monthly revenue with 3-month moving average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1267809.1399999999</c:v>
                </c:pt>
                <c:pt idx="1">
                  <c:v>1325913.58</c:v>
                </c:pt>
                <c:pt idx="2">
                  <c:v>1283324.96</c:v>
                </c:pt>
                <c:pt idx="3">
                  <c:v>1376119.8</c:v>
                </c:pt>
                <c:pt idx="4">
                  <c:v>1265695.48</c:v>
                </c:pt>
                <c:pt idx="5">
                  <c:v>1260616.8999999999</c:v>
                </c:pt>
                <c:pt idx="6">
                  <c:v>1310331.73</c:v>
                </c:pt>
                <c:pt idx="7">
                  <c:v>1320378.28</c:v>
                </c:pt>
                <c:pt idx="8">
                  <c:v>1298081.43</c:v>
                </c:pt>
                <c:pt idx="9">
                  <c:v>1307375.28</c:v>
                </c:pt>
                <c:pt idx="10">
                  <c:v>1278333.92</c:v>
                </c:pt>
                <c:pt idx="11">
                  <c:v>1279906.1399999999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AD-4327-9A5F-07DC56F313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3-month moving average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2024-01</c:v>
                </c:pt>
                <c:pt idx="1">
                  <c:v>2024-02</c:v>
                </c:pt>
                <c:pt idx="2">
                  <c:v>2024-03</c:v>
                </c:pt>
                <c:pt idx="3">
                  <c:v>2024-04</c:v>
                </c:pt>
                <c:pt idx="4">
                  <c:v>2024-05</c:v>
                </c:pt>
                <c:pt idx="5">
                  <c:v>2024-06</c:v>
                </c:pt>
                <c:pt idx="6">
                  <c:v>2024-07</c:v>
                </c:pt>
                <c:pt idx="7">
                  <c:v>2024-08</c:v>
                </c:pt>
                <c:pt idx="8">
                  <c:v>2024-09</c:v>
                </c:pt>
                <c:pt idx="9">
                  <c:v>2024-10</c:v>
                </c:pt>
                <c:pt idx="10">
                  <c:v>2024-11</c:v>
                </c:pt>
                <c:pt idx="11">
                  <c:v>2024-12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1296861.3600000001</c:v>
                </c:pt>
                <c:pt idx="1">
                  <c:v>1292349.23</c:v>
                </c:pt>
                <c:pt idx="2">
                  <c:v>1328452.78</c:v>
                </c:pt>
                <c:pt idx="3">
                  <c:v>1308380.08</c:v>
                </c:pt>
                <c:pt idx="4">
                  <c:v>1300810.73</c:v>
                </c:pt>
                <c:pt idx="5">
                  <c:v>1278881.3700000001</c:v>
                </c:pt>
                <c:pt idx="6">
                  <c:v>1297108.97</c:v>
                </c:pt>
                <c:pt idx="7">
                  <c:v>1309597.1499999999</c:v>
                </c:pt>
                <c:pt idx="8">
                  <c:v>1308611.6599999999</c:v>
                </c:pt>
                <c:pt idx="9">
                  <c:v>1294596.8799999999</c:v>
                </c:pt>
                <c:pt idx="10">
                  <c:v>1288538.45</c:v>
                </c:pt>
                <c:pt idx="11">
                  <c:v>1279120.03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AD-4327-9A5F-07DC56F313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Orders by hour of day (00-23)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#,##0</c:formatCode>
                <c:ptCount val="24"/>
                <c:pt idx="0">
                  <c:v>695</c:v>
                </c:pt>
                <c:pt idx="1">
                  <c:v>605</c:v>
                </c:pt>
                <c:pt idx="2">
                  <c:v>650</c:v>
                </c:pt>
                <c:pt idx="3">
                  <c:v>633</c:v>
                </c:pt>
                <c:pt idx="4">
                  <c:v>590</c:v>
                </c:pt>
                <c:pt idx="5">
                  <c:v>664</c:v>
                </c:pt>
                <c:pt idx="6">
                  <c:v>646</c:v>
                </c:pt>
                <c:pt idx="7">
                  <c:v>628</c:v>
                </c:pt>
                <c:pt idx="8">
                  <c:v>627</c:v>
                </c:pt>
                <c:pt idx="9">
                  <c:v>655</c:v>
                </c:pt>
                <c:pt idx="10">
                  <c:v>607</c:v>
                </c:pt>
                <c:pt idx="11">
                  <c:v>610</c:v>
                </c:pt>
                <c:pt idx="12">
                  <c:v>624</c:v>
                </c:pt>
                <c:pt idx="13">
                  <c:v>623</c:v>
                </c:pt>
                <c:pt idx="14">
                  <c:v>606</c:v>
                </c:pt>
                <c:pt idx="15">
                  <c:v>570</c:v>
                </c:pt>
                <c:pt idx="16">
                  <c:v>615</c:v>
                </c:pt>
                <c:pt idx="17">
                  <c:v>578</c:v>
                </c:pt>
                <c:pt idx="18">
                  <c:v>663</c:v>
                </c:pt>
                <c:pt idx="19">
                  <c:v>625</c:v>
                </c:pt>
                <c:pt idx="20">
                  <c:v>626</c:v>
                </c:pt>
                <c:pt idx="21">
                  <c:v>621</c:v>
                </c:pt>
                <c:pt idx="22">
                  <c:v>628</c:v>
                </c:pt>
                <c:pt idx="23">
                  <c:v>611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A01-4230-A0E5-C62CFFC79A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Correlation with published restaurant rating (n = 500)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Total revenue</c:v>
                </c:pt>
                <c:pt idx="1">
                  <c:v>Avg delivery time</c:v>
                </c:pt>
                <c:pt idx="2">
                  <c:v>Items per order</c:v>
                </c:pt>
                <c:pt idx="3">
                  <c:v>Orders received</c:v>
                </c:pt>
                <c:pt idx="4">
                  <c:v>Total ratings count</c:v>
                </c:pt>
                <c:pt idx="5">
                  <c:v>Avg order value</c:v>
                </c:pt>
                <c:pt idx="6">
                  <c:v>Customer rating given</c:v>
                </c:pt>
              </c:strCache>
            </c:strRef>
          </c:cat>
          <c:val>
            <c:numRef>
              <c:f>Sheet1!$B$2:$B$8</c:f>
              <c:numCache>
                <c:formatCode>0.000</c:formatCode>
                <c:ptCount val="7"/>
                <c:pt idx="0">
                  <c:v>2.7000000000000001E-3</c:v>
                </c:pt>
                <c:pt idx="1">
                  <c:v>-5.3E-3</c:v>
                </c:pt>
                <c:pt idx="2">
                  <c:v>-1.5599999999999999E-2</c:v>
                </c:pt>
                <c:pt idx="3">
                  <c:v>3.0800000000000001E-2</c:v>
                </c:pt>
                <c:pt idx="4">
                  <c:v>-3.3300000000000003E-2</c:v>
                </c:pt>
                <c:pt idx="5">
                  <c:v>-4.6699999999999998E-2</c:v>
                </c:pt>
                <c:pt idx="6">
                  <c:v>8.72E-2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B21-41B3-AF99-EB8B735DC1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.00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Does faster delivery earn a better rating? (bars would fall left-to-right)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customer rating</c:v>
                </c:pt>
              </c:strCache>
            </c:strRef>
          </c:tx>
          <c:spPr>
            <a:solidFill>
              <a:srgbClr val="BF8F00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&lt;=30 min</c:v>
                </c:pt>
                <c:pt idx="1">
                  <c:v>31-45 min</c:v>
                </c:pt>
                <c:pt idx="2">
                  <c:v>46-60 min</c:v>
                </c:pt>
                <c:pt idx="3">
                  <c:v>61-75 min</c:v>
                </c:pt>
                <c:pt idx="4">
                  <c:v>76-90 min</c:v>
                </c:pt>
              </c:strCache>
            </c:strRef>
          </c:cat>
          <c:val>
            <c:numRef>
              <c:f>Sheet1!$B$2:$B$6</c:f>
              <c:numCache>
                <c:formatCode>0.000</c:formatCode>
                <c:ptCount val="5"/>
                <c:pt idx="0">
                  <c:v>2.984</c:v>
                </c:pt>
                <c:pt idx="1">
                  <c:v>3.012</c:v>
                </c:pt>
                <c:pt idx="2">
                  <c:v>3.0070000000000001</c:v>
                </c:pt>
                <c:pt idx="3">
                  <c:v>3.0289999999999999</c:v>
                </c:pt>
                <c:pt idx="4">
                  <c:v>2.9940000000000002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A29-4EB5-B9DE-5B3470E554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0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Published vs actual rating,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 rating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Chennai</c:v>
                </c:pt>
                <c:pt idx="1">
                  <c:v>Mumbai</c:v>
                </c:pt>
                <c:pt idx="2">
                  <c:v>Delhi</c:v>
                </c:pt>
                <c:pt idx="3">
                  <c:v>Bangalore</c:v>
                </c:pt>
                <c:pt idx="4">
                  <c:v>Kolkata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3.8769999999999998</c:v>
                </c:pt>
                <c:pt idx="1">
                  <c:v>3.7559999999999998</c:v>
                </c:pt>
                <c:pt idx="2">
                  <c:v>3.778</c:v>
                </c:pt>
                <c:pt idx="3">
                  <c:v>3.7480000000000002</c:v>
                </c:pt>
                <c:pt idx="4">
                  <c:v>3.6389999999999998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F85-44E1-8A93-125D192F5D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rating</c:v>
                </c:pt>
              </c:strCache>
            </c:strRef>
          </c:tx>
          <c:spPr>
            <a:solidFill>
              <a:srgbClr val="E23744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Chennai</c:v>
                </c:pt>
                <c:pt idx="1">
                  <c:v>Mumbai</c:v>
                </c:pt>
                <c:pt idx="2">
                  <c:v>Delhi</c:v>
                </c:pt>
                <c:pt idx="3">
                  <c:v>Bangalore</c:v>
                </c:pt>
                <c:pt idx="4">
                  <c:v>Kolkata</c:v>
                </c:pt>
              </c:strCache>
            </c:strRef>
          </c:cat>
          <c:val>
            <c:numRef>
              <c:f>Sheet1!$C$2:$C$6</c:f>
              <c:numCache>
                <c:formatCode>0.00</c:formatCode>
                <c:ptCount val="5"/>
                <c:pt idx="0">
                  <c:v>3.0139999999999998</c:v>
                </c:pt>
                <c:pt idx="1">
                  <c:v>2.9780000000000002</c:v>
                </c:pt>
                <c:pt idx="2">
                  <c:v>3.02</c:v>
                </c:pt>
                <c:pt idx="3">
                  <c:v>3.012</c:v>
                </c:pt>
                <c:pt idx="4">
                  <c:v>3.004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F85-44E1-8A93-125D192F5D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Share of orders scoring below the restaurant's published rating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orders rated below published</c:v>
                </c:pt>
              </c:strCache>
            </c:strRef>
          </c:tx>
          <c:spPr>
            <a:solidFill>
              <a:srgbClr val="E23744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Kolkata</c:v>
                </c:pt>
                <c:pt idx="1">
                  <c:v>Bangalore</c:v>
                </c:pt>
                <c:pt idx="2">
                  <c:v>Delhi</c:v>
                </c:pt>
                <c:pt idx="3">
                  <c:v>Mumbai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64.489999999999995</c:v>
                </c:pt>
                <c:pt idx="1">
                  <c:v>67.06</c:v>
                </c:pt>
                <c:pt idx="2">
                  <c:v>67.900000000000006</c:v>
                </c:pt>
                <c:pt idx="3">
                  <c:v>68.94</c:v>
                </c:pt>
                <c:pt idx="4">
                  <c:v>69.97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024-4A46-BCC7-E07C60A3CE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.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Top 5 restaurants by 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(Rs)</c:v>
                </c:pt>
              </c:strCache>
            </c:strRef>
          </c:tx>
          <c:spPr>
            <a:solidFill>
              <a:srgbClr val="54823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Restaurant_116</c:v>
                </c:pt>
                <c:pt idx="1">
                  <c:v>Restaurant_262</c:v>
                </c:pt>
                <c:pt idx="2">
                  <c:v>Restaurant_56</c:v>
                </c:pt>
                <c:pt idx="3">
                  <c:v>Restaurant_27</c:v>
                </c:pt>
                <c:pt idx="4">
                  <c:v>Restaurant_127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50931.26</c:v>
                </c:pt>
                <c:pt idx="1">
                  <c:v>48860.24</c:v>
                </c:pt>
                <c:pt idx="2">
                  <c:v>48645.78</c:v>
                </c:pt>
                <c:pt idx="3">
                  <c:v>48562.1</c:v>
                </c:pt>
                <c:pt idx="4">
                  <c:v>48203.199999999997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E52-4986-92D7-93F58DBCCA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How orders are spread across all 500 restaurants - a bell curve, not a power law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A. Under 20</c:v>
                </c:pt>
                <c:pt idx="1">
                  <c:v>B. 20-24</c:v>
                </c:pt>
                <c:pt idx="2">
                  <c:v>C. 25-29</c:v>
                </c:pt>
                <c:pt idx="3">
                  <c:v>D. 30-34</c:v>
                </c:pt>
                <c:pt idx="4">
                  <c:v>E. 35-39</c:v>
                </c:pt>
                <c:pt idx="5">
                  <c:v>F. 40+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10</c:v>
                </c:pt>
                <c:pt idx="1">
                  <c:v>75</c:v>
                </c:pt>
                <c:pt idx="2">
                  <c:v>148</c:v>
                </c:pt>
                <c:pt idx="3">
                  <c:v>162</c:v>
                </c:pt>
                <c:pt idx="4">
                  <c:v>86</c:v>
                </c:pt>
                <c:pt idx="5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2BE-4B55-B772-7B6A487C89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Area revenue vs restaurant count - the same shape again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(Rs)</c:v>
                </c:pt>
              </c:strCache>
            </c:strRef>
          </c:tx>
          <c:spPr>
            <a:solidFill>
              <a:srgbClr val="548235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Area_A</c:v>
                </c:pt>
                <c:pt idx="1">
                  <c:v>Area_B</c:v>
                </c:pt>
                <c:pt idx="2">
                  <c:v>Area_D</c:v>
                </c:pt>
                <c:pt idx="3">
                  <c:v>Area_C</c:v>
                </c:pt>
                <c:pt idx="4">
                  <c:v>Area_E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3389610.24</c:v>
                </c:pt>
                <c:pt idx="1">
                  <c:v>3164937.07</c:v>
                </c:pt>
                <c:pt idx="2">
                  <c:v>3071402.67</c:v>
                </c:pt>
                <c:pt idx="3">
                  <c:v>3042111.72</c:v>
                </c:pt>
                <c:pt idx="4">
                  <c:v>2905824.94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63B-46F0-81CA-6E42565A12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Restaurants x 30000</c:v>
                </c:pt>
              </c:strCache>
            </c:strRef>
          </c:tx>
          <c:spPr>
            <a:solidFill>
              <a:srgbClr val="BF8F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Area_A</c:v>
                </c:pt>
                <c:pt idx="1">
                  <c:v>Area_B</c:v>
                </c:pt>
                <c:pt idx="2">
                  <c:v>Area_D</c:v>
                </c:pt>
                <c:pt idx="3">
                  <c:v>Area_C</c:v>
                </c:pt>
                <c:pt idx="4">
                  <c:v>Area_E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3270000</c:v>
                </c:pt>
                <c:pt idx="1">
                  <c:v>3090000</c:v>
                </c:pt>
                <c:pt idx="2">
                  <c:v>2970000</c:v>
                </c:pt>
                <c:pt idx="3">
                  <c:v>2940000</c:v>
                </c:pt>
                <c:pt idx="4">
                  <c:v>2730000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63B-46F0-81CA-6E42565A12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Orders per restaurant by area - Area_E is actually the most productive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 per restaurant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Area_A</c:v>
                </c:pt>
                <c:pt idx="1">
                  <c:v>Area_B</c:v>
                </c:pt>
                <c:pt idx="2">
                  <c:v>Area_D</c:v>
                </c:pt>
                <c:pt idx="3">
                  <c:v>Area_C</c:v>
                </c:pt>
                <c:pt idx="4">
                  <c:v>Area_E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30.06</c:v>
                </c:pt>
                <c:pt idx="1">
                  <c:v>29.69</c:v>
                </c:pt>
                <c:pt idx="2">
                  <c:v>29.62</c:v>
                </c:pt>
                <c:pt idx="3">
                  <c:v>30.11</c:v>
                </c:pt>
                <c:pt idx="4">
                  <c:v>30.58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4D9-4AA3-8A98-534DD477FA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Daypart totals look uneven - until you divide by hours in the bucket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orders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Late night</c:v>
                </c:pt>
                <c:pt idx="1">
                  <c:v>Morning</c:v>
                </c:pt>
                <c:pt idx="2">
                  <c:v>Evening</c:v>
                </c:pt>
                <c:pt idx="3">
                  <c:v>Afternoon</c:v>
                </c:pt>
                <c:pt idx="4">
                  <c:v>Night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3837</c:v>
                </c:pt>
                <c:pt idx="1">
                  <c:v>3773</c:v>
                </c:pt>
                <c:pt idx="2">
                  <c:v>3113</c:v>
                </c:pt>
                <c:pt idx="3">
                  <c:v>3038</c:v>
                </c:pt>
                <c:pt idx="4">
                  <c:v>1239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2B-456B-86D1-59D6ACF636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 per hour</c:v>
                </c:pt>
              </c:strCache>
            </c:strRef>
          </c:tx>
          <c:spPr>
            <a:solidFill>
              <a:srgbClr val="54823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1F3864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Late night</c:v>
                </c:pt>
                <c:pt idx="1">
                  <c:v>Morning</c:v>
                </c:pt>
                <c:pt idx="2">
                  <c:v>Evening</c:v>
                </c:pt>
                <c:pt idx="3">
                  <c:v>Afternoon</c:v>
                </c:pt>
                <c:pt idx="4">
                  <c:v>Night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639.5</c:v>
                </c:pt>
                <c:pt idx="1">
                  <c:v>628.83333333333337</c:v>
                </c:pt>
                <c:pt idx="2">
                  <c:v>622.6</c:v>
                </c:pt>
                <c:pt idx="3">
                  <c:v>607.6</c:v>
                </c:pt>
                <c:pt idx="4">
                  <c:v>619.5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2B-456B-86D1-59D6ACF636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</a:rPr>
              <a:t>Task 7 heat map source: orders by city x daypart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Late night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881</c:v>
                </c:pt>
                <c:pt idx="1">
                  <c:v>803</c:v>
                </c:pt>
                <c:pt idx="2">
                  <c:v>766</c:v>
                </c:pt>
                <c:pt idx="3">
                  <c:v>704</c:v>
                </c:pt>
                <c:pt idx="4">
                  <c:v>683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506-45E5-BF3A-64375C3BAE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839</c:v>
                </c:pt>
                <c:pt idx="1">
                  <c:v>866</c:v>
                </c:pt>
                <c:pt idx="2">
                  <c:v>690</c:v>
                </c:pt>
                <c:pt idx="3">
                  <c:v>709</c:v>
                </c:pt>
                <c:pt idx="4">
                  <c:v>669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506-45E5-BF3A-64375C3BAE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rgbClr val="548235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Sheet1!$D$2:$D$6</c:f>
              <c:numCache>
                <c:formatCode>#,##0</c:formatCode>
                <c:ptCount val="5"/>
                <c:pt idx="0">
                  <c:v>669</c:v>
                </c:pt>
                <c:pt idx="1">
                  <c:v>665</c:v>
                </c:pt>
                <c:pt idx="2">
                  <c:v>595</c:v>
                </c:pt>
                <c:pt idx="3">
                  <c:v>539</c:v>
                </c:pt>
                <c:pt idx="4">
                  <c:v>570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506-45E5-BF3A-64375C3BAE5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rgbClr val="BF8F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Sheet1!$E$2:$E$6</c:f>
              <c:numCache>
                <c:formatCode>#,##0</c:formatCode>
                <c:ptCount val="5"/>
                <c:pt idx="0">
                  <c:v>704</c:v>
                </c:pt>
                <c:pt idx="1">
                  <c:v>677</c:v>
                </c:pt>
                <c:pt idx="2">
                  <c:v>578</c:v>
                </c:pt>
                <c:pt idx="3">
                  <c:v>572</c:v>
                </c:pt>
                <c:pt idx="4">
                  <c:v>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B506-45E5-BF3A-64375C3BAE5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rgbClr val="E23744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Sheet1!$F$2:$F$6</c:f>
              <c:numCache>
                <c:formatCode>#,##0</c:formatCode>
                <c:ptCount val="5"/>
                <c:pt idx="0">
                  <c:v>291</c:v>
                </c:pt>
                <c:pt idx="1">
                  <c:v>289</c:v>
                </c:pt>
                <c:pt idx="2">
                  <c:v>228</c:v>
                </c:pt>
                <c:pt idx="3">
                  <c:v>208</c:v>
                </c:pt>
                <c:pt idx="4">
                  <c:v>223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B506-45E5-BF3A-64375C3BA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1F3864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346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EAADB"/>
                </a:solidFill>
                <a:latin typeface="Calibri"/>
              </a:rPr>
              <a:t>FOOD &amp; BEVERAGE  |  BUSINESS ANALYTICS  |  SQL + POWER BI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Zomato Order &amp;
Restaurant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154680"/>
            <a:ext cx="2011680" cy="45720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DDEBF7"/>
                </a:solidFill>
                <a:latin typeface="Calibri"/>
              </a:rPr>
              <a:t>Where does demand actually come from - and which differences are real?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DDEBF7"/>
                </a:solidFill>
                <a:latin typeface="Calibri"/>
              </a:rPr>
              <a:t>15,000 orders  •  500 restaurants  •  5 cities  •  15,000 customers  •  Jan-Dec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617720"/>
            <a:ext cx="2487168" cy="1051560"/>
          </a:xfrm>
          <a:prstGeom prst="rect">
            <a:avLst/>
          </a:prstGeom>
          <a:solidFill>
            <a:srgbClr val="2A4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4617720"/>
            <a:ext cx="2487168" cy="6400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73168"/>
            <a:ext cx="2487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8EAADB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47488"/>
            <a:ext cx="2487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Rs 1.56 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8728" y="4617720"/>
            <a:ext cx="2487168" cy="1051560"/>
          </a:xfrm>
          <a:prstGeom prst="rect">
            <a:avLst/>
          </a:prstGeom>
          <a:solidFill>
            <a:srgbClr val="2A4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38728" y="4617720"/>
            <a:ext cx="2487168" cy="6400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4773168"/>
            <a:ext cx="2487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8EAADB"/>
                </a:solidFill>
                <a:latin typeface="Calibri"/>
              </a:rPr>
              <a:t>AVG ORDER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5047488"/>
            <a:ext cx="2487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Rs 1,038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4617720"/>
            <a:ext cx="2487168" cy="1051560"/>
          </a:xfrm>
          <a:prstGeom prst="rect">
            <a:avLst/>
          </a:prstGeom>
          <a:solidFill>
            <a:srgbClr val="2A4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8776" y="4617720"/>
            <a:ext cx="2487168" cy="6400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8776" y="4773168"/>
            <a:ext cx="2487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8EAADB"/>
                </a:solidFill>
                <a:latin typeface="Calibri"/>
              </a:rPr>
              <a:t>ORDERS / RESTAURANT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5047488"/>
            <a:ext cx="2487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8824" y="4617720"/>
            <a:ext cx="2487168" cy="1051560"/>
          </a:xfrm>
          <a:prstGeom prst="rect">
            <a:avLst/>
          </a:prstGeom>
          <a:solidFill>
            <a:srgbClr val="2A4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78824" y="4617720"/>
            <a:ext cx="2487168" cy="6400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78824" y="4773168"/>
            <a:ext cx="2487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8EAADB"/>
                </a:solidFill>
                <a:latin typeface="Calibri"/>
              </a:rPr>
              <a:t>SIGNIFICANT SEGMENT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5047488"/>
            <a:ext cx="2487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 of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EAADB"/>
                </a:solidFill>
                <a:latin typeface="Calibri"/>
              </a:rPr>
              <a:t>SQL import &amp; transformation  •  Data cleaning  •  Data modelling  •  DAX / measures  •  Interactive visualisation  •  KPI &amp; significance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Source Data, Model &amp;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Brief Tasks 1 &amp; 2: from two PDF print-outs to a constrained star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00584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Calibri"/>
              </a:rPr>
              <a:t>WHAT ARRIVED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1F3864"/>
                </a:solidFill>
                <a:latin typeface="Calibri"/>
              </a:rPr>
              <a:t>Both datasets came as PDF print-outs of spreadsheets, not CSVs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1F3864"/>
                </a:solidFill>
                <a:latin typeface="Calibri"/>
              </a:rPr>
              <a:t>218 pages of orders, 8 of restaurants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1F3864"/>
                </a:solidFill>
                <a:latin typeface="Calibri"/>
              </a:rPr>
              <a:t>Coordinate-based extraction: words bucketed by y into rows, by x into columns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548235"/>
                </a:solidFill>
                <a:latin typeface="Calibri"/>
              </a:rPr>
              <a:t>15,000 / 15,000 and 500 / 500 rows recovered - zero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42900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 b="1">
                <a:solidFill>
                  <a:srgbClr val="2E75B6"/>
                </a:solidFill>
                <a:latin typeface="Calibri"/>
              </a:rPr>
              <a:t>APPROACH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1F3864"/>
                </a:solidFill>
                <a:latin typeface="Calibri"/>
              </a:rPr>
              <a:t>Raw → Clean (PK/FK/CHECK enforced) → Mart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1F3864"/>
                </a:solidFill>
                <a:latin typeface="Calibri"/>
              </a:rPr>
              <a:t>Star schema: 1 dimension + 1 fact, joined on restaurant_id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1F3864"/>
                </a:solidFill>
                <a:latin typeface="Calibri"/>
              </a:rPr>
              <a:t>vw_order_detail: one row per order with every restaurant attribute attached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1F3864"/>
                </a:solidFill>
                <a:latin typeface="Calibri"/>
              </a:rPr>
              <a:t>Portable MySQL 8 DDL written alongside the SQLite build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50">
                <a:solidFill>
                  <a:srgbClr val="2E75B6"/>
                </a:solidFill>
              </a:rPr>
              <a:t>▪  </a:t>
            </a:r>
            <a:r>
              <a:rPr sz="1150">
                <a:solidFill>
                  <a:srgbClr val="BF8F00"/>
                </a:solidFill>
                <a:latin typeface="Calibri"/>
              </a:rPr>
              <a:t>Every claim tested for significance before it is called an insight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05840"/>
            <a:ext cx="3794760" cy="5166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1115568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STAR 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508760"/>
            <a:ext cx="2697480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572768"/>
            <a:ext cx="2697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dim_restaurant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10512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DDEBF7"/>
                </a:solidFill>
                <a:latin typeface="Calibri"/>
              </a:rPr>
              <a:t>500 rows • PK restaurant_id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1284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1  ────&lt;  many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542032"/>
            <a:ext cx="2697480" cy="6217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606040"/>
            <a:ext cx="2697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fact_order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843784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DDEBF7"/>
                </a:solidFill>
                <a:latin typeface="Calibri"/>
              </a:rPr>
              <a:t>15,000 rows • PK order_id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401568"/>
            <a:ext cx="3246120" cy="65836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3465576"/>
            <a:ext cx="3246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vw_order_detail  (mart)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703320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DDEBF7"/>
                </a:solidFill>
                <a:latin typeface="Calibri"/>
              </a:rPr>
              <a:t>order + restaurant + derived time dimensions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4224528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CONSTRAINTS ENFORCED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E75B6"/>
                </a:solidFill>
              </a:rPr>
              <a:t>▪  </a:t>
            </a:r>
            <a:r>
              <a:rPr sz="950">
                <a:solidFill>
                  <a:srgbClr val="1F3864"/>
                </a:solidFill>
                <a:latin typeface="Calibri"/>
              </a:rPr>
              <a:t>PK uniqueness: 0 duplicates in either table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E75B6"/>
                </a:solidFill>
              </a:rPr>
              <a:t>▪  </a:t>
            </a:r>
            <a:r>
              <a:rPr sz="950">
                <a:solidFill>
                  <a:srgbClr val="1F3864"/>
                </a:solidFill>
                <a:latin typeface="Calibri"/>
              </a:rPr>
              <a:t>FK restaurant_id: 0 orphan orders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E75B6"/>
                </a:solidFill>
              </a:rPr>
              <a:t>▪  </a:t>
            </a:r>
            <a:r>
              <a:rPr sz="950">
                <a:solidFill>
                  <a:srgbClr val="1F3864"/>
                </a:solidFill>
                <a:latin typeface="Calibri"/>
              </a:rPr>
              <a:t>CHECK total_cost &gt; 0, item_count &gt; 0: 0 violations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E75B6"/>
                </a:solidFill>
              </a:rPr>
              <a:t>▪  </a:t>
            </a:r>
            <a:r>
              <a:rPr sz="950">
                <a:solidFill>
                  <a:srgbClr val="1F3864"/>
                </a:solidFill>
                <a:latin typeface="Calibri"/>
              </a:rPr>
              <a:t>CHECK rating BETWEEN 1 AND 5: 0 violations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E75B6"/>
                </a:solidFill>
              </a:rPr>
              <a:t>▪  </a:t>
            </a:r>
            <a:r>
              <a:rPr sz="950">
                <a:solidFill>
                  <a:srgbClr val="548235"/>
                </a:solidFill>
                <a:latin typeface="Calibri"/>
              </a:rPr>
              <a:t>Join resolves 15,000 / 15,000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005840"/>
            <a:ext cx="3566160" cy="5166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1005840"/>
            <a:ext cx="3566160" cy="731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11430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DATA QUALITY - 12 DEFECT 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1508760"/>
            <a:ext cx="3246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2E75B6"/>
                </a:solidFill>
              </a:rPr>
              <a:t>▪  </a:t>
            </a:r>
            <a:r>
              <a:rPr sz="1000">
                <a:solidFill>
                  <a:srgbClr val="1F3864"/>
                </a:solidFill>
                <a:latin typeface="Calibri"/>
              </a:rPr>
              <a:t>385 ID values were mangled by Excel into scientific notation before the PDF was printed (e.g. '9.18E+07' where an 8-char hex key belongs)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2E75B6"/>
                </a:solidFill>
              </a:rPr>
              <a:t>▪  </a:t>
            </a:r>
            <a:r>
              <a:rPr sz="1000">
                <a:solidFill>
                  <a:srgbClr val="548235"/>
                </a:solidFill>
                <a:latin typeface="Calibri"/>
              </a:rPr>
              <a:t>Critically: the SAME corrupted strings appear in BOTH files, so referential integrity survives and all 171 affected orders still join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2E75B6"/>
                </a:solidFill>
              </a:rPr>
              <a:t>▪  </a:t>
            </a:r>
            <a:r>
              <a:rPr sz="1000">
                <a:solidFill>
                  <a:srgbClr val="1F3864"/>
                </a:solidFill>
                <a:latin typeface="Calibri"/>
              </a:rPr>
              <a:t>Keys were flagged, not repaired - inventing a hex id would silently break the join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2E75B6"/>
                </a:solidFill>
              </a:rPr>
              <a:t>▪  </a:t>
            </a:r>
            <a:r>
              <a:rPr sz="1000">
                <a:solidFill>
                  <a:srgbClr val="1F3864"/>
                </a:solidFill>
                <a:latin typeface="Calibri"/>
              </a:rPr>
              <a:t>0 duplicate records and 0 NULLs found across all 19 business columns - the brief asks us to handle both, so the finding is that neither was needed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2E75B6"/>
                </a:solidFill>
              </a:rPr>
              <a:t>▪  </a:t>
            </a:r>
            <a:r>
              <a:rPr sz="1000">
                <a:solidFill>
                  <a:srgbClr val="1F3864"/>
                </a:solidFill>
                <a:latin typeface="Calibri"/>
              </a:rPr>
              <a:t>Every customer_id appears exactly once, so retention and CLV analysis are impossible on this dataset - stated as a limitation, not hidden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>
                <a:solidFill>
                  <a:srgbClr val="2E75B6"/>
                </a:solidFill>
              </a:rPr>
              <a:t>▪  </a:t>
            </a:r>
            <a:r>
              <a:rPr sz="1000">
                <a:solidFill>
                  <a:srgbClr val="1F3864"/>
                </a:solidFill>
                <a:latin typeface="Calibri"/>
              </a:rPr>
              <a:t>29 calendar days have no orders; gaps are shown on the trend chart rather than interpolated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Business Performance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 8: the KPI cards, with a half-year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987552"/>
            <a:ext cx="2194560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Rs 1.56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Jan-Dec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2" y="987552"/>
            <a:ext cx="219456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24912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TOTAL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15,000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336 active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65776" y="987552"/>
            <a:ext cx="2194560" cy="82296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65776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AVG ORDER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548235"/>
                </a:solidFill>
                <a:latin typeface="Calibri"/>
              </a:rPr>
              <a:t>Rs 1,038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6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incl. tax &amp; delivery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06640" y="987552"/>
            <a:ext cx="219456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RESTAURANTS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across 5 cities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7504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47504" y="987552"/>
            <a:ext cx="2194560" cy="82296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47504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AVG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BF8F00"/>
                </a:solidFill>
                <a:latin typeface="Calibri"/>
              </a:rPr>
              <a:t>52.4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15-90 min range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2304288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84048" y="2304288"/>
            <a:ext cx="2194560" cy="82296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2441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AVG CUSTOMER RATING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2706624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BF8F00"/>
                </a:solidFill>
                <a:latin typeface="Calibri"/>
              </a:rPr>
              <a:t>3.00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317296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out of 5.0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24912" y="2304288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24912" y="2304288"/>
            <a:ext cx="219456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24912" y="2441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ITEMS PER 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4912" y="2706624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5.54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24912" y="317296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Rs 298 per item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65776" y="2304288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65776" y="2304288"/>
            <a:ext cx="219456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65776" y="2441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ORDERS / RESTAURANT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65776" y="2706624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65776" y="317296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network average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2304288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406640" y="2304288"/>
            <a:ext cx="2194560" cy="82296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06640" y="2441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H2 vs H1 REVENUE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2706624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548235"/>
                </a:solidFill>
                <a:latin typeface="Calibri"/>
              </a:rPr>
              <a:t>+0.19%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317296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no growth trend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47504" y="2304288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747504" y="2304288"/>
            <a:ext cx="2194560" cy="82296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47504" y="2441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H2 vs H1 ORDERS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47504" y="2706624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BF8F00"/>
                </a:solidFill>
                <a:latin typeface="Calibri"/>
              </a:rPr>
              <a:t>-0.27%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47504" y="317296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flat all year</a:t>
            </a:r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384048" y="3639312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2" name="Chart 61"/>
          <p:cNvGraphicFramePr>
            <a:graphicFrameLocks noGrp="1"/>
          </p:cNvGraphicFramePr>
          <p:nvPr/>
        </p:nvGraphicFramePr>
        <p:xfrm>
          <a:off x="4526280" y="3639312"/>
          <a:ext cx="3383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3" name="Rectangle 62"/>
          <p:cNvSpPr/>
          <p:nvPr/>
        </p:nvSpPr>
        <p:spPr>
          <a:xfrm>
            <a:off x="8092440" y="3639312"/>
            <a:ext cx="370332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092440" y="3639312"/>
            <a:ext cx="73152" cy="2286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93608" y="3721608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READING THE KPIs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7032" y="4023360"/>
            <a:ext cx="33741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Revenue is Rs 1.56 Cr on 15,000 orders, an AOV of Rs 1,038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H2 is +0.19% against H1 on -0.27% orders - the business is perfectly flat, so there is no momentum to report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All five payment rails sit within 2% of a 20% share (chi-square 2.06 vs 9.49 critical) - the only dimension that is genuinely balanced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95959"/>
                </a:solidFill>
                <a:latin typeface="Calibri"/>
              </a:rPr>
              <a:t>Every customer appears once, so none of these KPIs can be split by new vs repeat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Central Finding: Demand Is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Why every 'city insight' on this dataset is really a restaurant-count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TASKS 1 &amp; 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 / 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987552"/>
          <a:ext cx="56692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3675887"/>
          <a:ext cx="5669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6217920" y="987552"/>
            <a:ext cx="557784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987552"/>
            <a:ext cx="73152" cy="25146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06984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BF8F00"/>
                </a:solidFill>
                <a:latin typeface="Calibri"/>
              </a:rPr>
              <a:t>WHAT THE NAIVE DASHBOARD WOULD SAY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371600"/>
            <a:ext cx="524865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"Mumbai leads with 3,384 orders (22.6%), Chennai trails at 2,727 (18.2%)"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Chi-square on those counts is 134.8 against a 9.49 critical value - apparently highly significant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C00000"/>
                </a:solidFill>
                <a:latin typeface="Calibri"/>
              </a:rPr>
              <a:t>That conclusion is wrong, and it is the trap this dataset sets.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75887"/>
            <a:ext cx="55778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675887"/>
            <a:ext cx="73152" cy="224028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758183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48235"/>
                </a:solidFill>
                <a:latin typeface="Calibri"/>
              </a:rPr>
              <a:t>WHAT THE DATA ACTUALLY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059935"/>
            <a:ext cx="52486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Mumbai has 115 restaurants; Chennai has 91. Correlation between restaurant count and order count is 0.989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Re-run the chi-square against supply-proportional expectations and it collapses to 3.43 - not significant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Demand/supply index spans just 0.981-1.024; every city is within 2.4% of perfectly proportional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48235"/>
                </a:solidFill>
                <a:latin typeface="Calibri"/>
              </a:rPr>
              <a:t>So there is no under-served city to target. The only growth lever is adding supply - and it pays the same wherever you add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Which Differences Are Real?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19 chi-square and ANOVA tests - the credibility layer behind every claim in this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987552"/>
            <a:ext cx="27889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987552"/>
            <a:ext cx="2788920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112471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TESTS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389888"/>
            <a:ext cx="27889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87452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chi-square + ANOVA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8416" y="987552"/>
            <a:ext cx="27889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28416" y="987552"/>
            <a:ext cx="2788920" cy="82296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28416" y="112471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SIGNIFICANT VS EVEN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1389888"/>
            <a:ext cx="27889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BF8F0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187452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what a naive report shows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987552"/>
            <a:ext cx="27889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2784" y="987552"/>
            <a:ext cx="2788920" cy="822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72784" y="112471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SURVIVE SUPPLY ADJUSTMENT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1389888"/>
            <a:ext cx="27889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187452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the honest answer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17152" y="987552"/>
            <a:ext cx="27889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17152" y="987552"/>
            <a:ext cx="2788920" cy="822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17152" y="112471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ANOVA TESTS PASSED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1389888"/>
            <a:ext cx="27889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0 of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187452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no segment differs on value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384048" y="2340864"/>
          <a:ext cx="5760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84048" y="4773168"/>
          <a:ext cx="57607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Rectangle 32"/>
          <p:cNvSpPr/>
          <p:nvPr/>
        </p:nvSpPr>
        <p:spPr>
          <a:xfrm>
            <a:off x="6309360" y="2340864"/>
            <a:ext cx="548640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2340864"/>
            <a:ext cx="73152" cy="2103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24231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HOW TO READ THIS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2724912"/>
            <a:ext cx="5157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Chi-square tests order counts against two benchmarks. An even split - which four dimensions beat, and that is the result a naive dashboard reports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Then against expectations proportional to each segment's restaurant count. None of the four survive (4.69 max against 9.49)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ANOVA asks whether mean order value, rating or delivery time differ by segment. All 15 fail - the largest F is 2.57 against a 3.00 critical value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590288"/>
            <a:ext cx="548640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4590288"/>
            <a:ext cx="73152" cy="1920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0528" y="467258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00000"/>
                </a:solidFill>
                <a:latin typeface="Calibri"/>
              </a:rPr>
              <a:t>WHY THIS MATTERS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4974336"/>
            <a:ext cx="51572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With 15,000 rows, a 2% gap between cities looks convincing on a bar chart and means nothing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AOV across cities spans Rs 1,034-1,041, a 0.7% range against a per-order standard deviation of about Rs 552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C00000"/>
                </a:solidFill>
                <a:latin typeface="Calibri"/>
              </a:rPr>
              <a:t>Reporting those gaps as insights would be the single biggest mistake available on this dataset. Testing first is what makes the rest of the deck trustworthy.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Restaurants per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 1: where is supply dense, and is the imbalance real?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 / 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987552"/>
          <a:ext cx="5760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3657600"/>
          <a:ext cx="57607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98755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8755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RESTAURANTS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987552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%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98755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DEVIATION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54864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45720" cy="38404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34416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Mumbai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34416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115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34416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23.0%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13441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548235"/>
                </a:solidFill>
                <a:latin typeface="Calibri"/>
              </a:rPr>
              <a:t>+15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709928"/>
            <a:ext cx="54864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1709928"/>
            <a:ext cx="45720" cy="38404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773936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Bangalore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773936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109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1773936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21.8%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177393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548235"/>
                </a:solidFill>
                <a:latin typeface="Calibri"/>
              </a:rPr>
              <a:t>+9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139696"/>
            <a:ext cx="54864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2139696"/>
            <a:ext cx="45720" cy="38404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220370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Delhi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20370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20370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18.6%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220370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BF8F00"/>
                </a:solidFill>
                <a:latin typeface="Calibri"/>
              </a:rPr>
              <a:t>-7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569464"/>
            <a:ext cx="54864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2569464"/>
            <a:ext cx="45720" cy="38404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263347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Kolkata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63347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63347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18.4%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263347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BF8F00"/>
                </a:solidFill>
                <a:latin typeface="Calibri"/>
              </a:rPr>
              <a:t>-8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999232"/>
            <a:ext cx="548640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2999232"/>
            <a:ext cx="45720" cy="38404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0632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Chennai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0632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06324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 i="0">
                <a:solidFill>
                  <a:srgbClr val="1F3864"/>
                </a:solidFill>
                <a:latin typeface="Calibri"/>
              </a:rPr>
              <a:t>18.2%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30632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BF8F00"/>
                </a:solidFill>
                <a:latin typeface="Calibri"/>
              </a:rPr>
              <a:t>-9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538728"/>
            <a:ext cx="54864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09360" y="3538728"/>
            <a:ext cx="73152" cy="22860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10528" y="362102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48235"/>
                </a:solidFill>
                <a:latin typeface="Calibri"/>
              </a:rPr>
              <a:t>IS THERE AN UNDER-SERVED CITY?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3922776"/>
            <a:ext cx="51572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Mumbai has 115 restaurants and Chennai 91 - a 24-outlet gap that looks meaningful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But chi-square across the five cities totals only 5.00 against a 9.49 critical value at 4 degrees of freedom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48235"/>
                </a:solidFill>
                <a:latin typeface="Calibri"/>
              </a:rPr>
              <a:t>So the allocation is statistically indistinguishable from random. There is no under-served city in this data.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The brief asks whether density correlates with population or food demand. It cannot be answered: the dataset carries no population figures and demand is purely proportional to supply.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Percentage of Orders by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 2: order share, and the supply comparison the brief asks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7 / 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987552"/>
          <a:ext cx="3931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26280" y="987552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84048" y="4005072"/>
          <a:ext cx="57607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Rectangle 13"/>
          <p:cNvSpPr/>
          <p:nvPr/>
        </p:nvSpPr>
        <p:spPr>
          <a:xfrm>
            <a:off x="8961120" y="987552"/>
            <a:ext cx="2834640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0" y="987552"/>
            <a:ext cx="73152" cy="2834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62288" y="1069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ORDER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371600"/>
            <a:ext cx="25054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Mumbai 22.6%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Bangalore 22.0%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Delhi 19.1%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Kolkata 18.2%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Chennai 18.2%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95959"/>
                </a:solidFill>
                <a:latin typeface="Calibri"/>
              </a:rPr>
              <a:t>Revenue share matches order share to within 0.1pt everywhere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05072"/>
            <a:ext cx="548640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4005072"/>
            <a:ext cx="73152" cy="19202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40873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48235"/>
                </a:solidFill>
                <a:latin typeface="Calibri"/>
              </a:rPr>
              <a:t>THE IMBALANCE CHECK THE BRIEF ASKS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89120"/>
            <a:ext cx="51572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The index spans 0.981 to 1.024 - Delhi is the most efficient at 1.024 and Mumbai the least at 0.981, a spread of just 4.4%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Orders per restaurant: 29.4 (Mumbai) to 30.7 (Delhi)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48235"/>
                </a:solidFill>
                <a:latin typeface="Calibri"/>
              </a:rPr>
              <a:t>Verdict: no city dominates the order market on a per-restaurant basis. Opening a restaurant yields about 30 orders a year wherever you put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Order Amount Trends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 3: monthly, hourly and weekday demand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8 / 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987552"/>
          <a:ext cx="5852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3547872"/>
          <a:ext cx="5852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0" y="987552"/>
            <a:ext cx="1719072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987552"/>
            <a:ext cx="1719072" cy="82296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124712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PEAK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89888"/>
            <a:ext cx="17190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548235"/>
                </a:solidFill>
                <a:latin typeface="Calibri"/>
              </a:rPr>
              <a:t>2024-04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Rs 13.8 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987552"/>
            <a:ext cx="1719072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987552"/>
            <a:ext cx="1719072" cy="82296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124712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LOWEST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389888"/>
            <a:ext cx="17190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BF8F00"/>
                </a:solidFill>
                <a:latin typeface="Calibri"/>
              </a:rPr>
              <a:t>2024-06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Rs 12.6 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987552"/>
            <a:ext cx="1719072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0" y="987552"/>
            <a:ext cx="1719072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0" y="1124712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MONTHLY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389888"/>
            <a:ext cx="1719072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9.2%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783080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max vs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40280"/>
            <a:ext cx="539496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2240280"/>
            <a:ext cx="73152" cy="2011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232257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00000"/>
                </a:solidFill>
                <a:latin typeface="Calibri"/>
              </a:rPr>
              <a:t>THERE IS NO SEASONAL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2624328"/>
            <a:ext cx="50657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Revenue sits between Rs 12.6 L and Rs 13.8 L every single month - a 9.2% range with no shape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H2 vs H1 is +0.19%. No festive spike in October or December, no summer dip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Friday is the busiest weekday at 2,184 orders and Monday the quietest at 2,103, but normalised per active day the weekend runs 44.7 against 44.6 on weekdays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C00000"/>
                </a:solidFill>
                <a:latin typeface="Calibri"/>
              </a:rPr>
              <a:t>The brief asks us to forecast demand trends. Honestly: there is no trend here to forecast - the series is stationary noise.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370832"/>
            <a:ext cx="539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4370832"/>
            <a:ext cx="73152" cy="15544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1968" y="445312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BF8F00"/>
                </a:solidFill>
                <a:latin typeface="Calibri"/>
              </a:rPr>
              <a:t>HOUR OF DAY - THE ONE PATTERN WORTH CHECKING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754880"/>
            <a:ext cx="50657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Peak is 00:00 with 695 orders; trough is 15:00 with 570 - a ratio of only 1.22x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Chi-square across all 24 hours is 28.8 against a 35.2 critical value at 23 df - not significant either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BF8F00"/>
                </a:solidFill>
                <a:latin typeface="Calibri"/>
              </a:rPr>
              <a:t>A real food-delivery business shows 3-5x lunch and dinner peaks. Their complete absence is the strongest evidence this data is synthetic.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Factors Affecting Average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 4: Pearson correlations computed in SQL at restaurant grain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9 / 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987552"/>
          <a:ext cx="57607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3822191"/>
          <a:ext cx="57607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6309360" y="987552"/>
            <a:ext cx="5486400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987552"/>
            <a:ext cx="73152" cy="2651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06984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00000"/>
                </a:solidFill>
                <a:latin typeface="Calibri"/>
              </a:rPr>
              <a:t>NOTHING WE MEASURE PREDICTS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371600"/>
            <a:ext cx="515721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The strongest correlation of the seven factors tested is +0.0872 (Customer rating given), explaining 0.76% of the variance in rating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Price range: ANOVA F = 2.57 against a 3.00 critical value - a premium restaurant is not rated better than a budget 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Total revenue correlates at +0.0027 - commercial success and customer satisfaction are completely decoupled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95959"/>
                </a:solidFill>
                <a:latin typeface="Calibri"/>
              </a:rPr>
              <a:t>SQLite has no CORR(), so Pearson r is built inside the query from sums of squares and cross-products.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22191"/>
            <a:ext cx="548640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822191"/>
            <a:ext cx="73152" cy="21031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904487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BF8F00"/>
                </a:solidFill>
                <a:latin typeface="Calibri"/>
              </a:rPr>
              <a:t>THE DELIVERY-SPEED HYPOTHESIS FAILS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206239"/>
            <a:ext cx="5157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Orders delivered in 30 minutes or less score 2.984; those taking 61-75 minutes score 3.029 - the slower band rates HIGHER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Total spread across all five bands is 0.045 stars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C00000"/>
                </a:solidFill>
                <a:latin typeface="Calibri"/>
              </a:rPr>
              <a:t>For a delivery business this is the single most important relationship to confirm, and on this data it does not exist. Investing in speed could not be justified from these numbers.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One Statistically Overwhelming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Published restaurant ratings versus the ratings their own orders receive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10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987552"/>
            <a:ext cx="219456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PUBLISHED AVG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3.750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restaurant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2" y="987552"/>
            <a:ext cx="2194560" cy="82296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24912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ACTUAL AVG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BF8F00"/>
                </a:solidFill>
                <a:latin typeface="Calibri"/>
              </a:rPr>
              <a:t>3.000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per 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65776" y="987552"/>
            <a:ext cx="2194560" cy="822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65776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-0.750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6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stars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06640" y="987552"/>
            <a:ext cx="2194560" cy="822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t-STATISTIC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-68.1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p &lt; 0.001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7504" y="987552"/>
            <a:ext cx="2194560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47504" y="987552"/>
            <a:ext cx="2194560" cy="822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47504" y="1124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595959"/>
                </a:solidFill>
                <a:latin typeface="Calibri"/>
              </a:rPr>
              <a:t>ORDERS BELOW PUBLISHED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1389888"/>
            <a:ext cx="2194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C00000"/>
                </a:solidFill>
                <a:latin typeface="Calibri"/>
              </a:rPr>
              <a:t>67.7%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18562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595959"/>
                </a:solidFill>
                <a:latin typeface="Calibri"/>
              </a:rPr>
              <a:t>10,156 of 15,000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384048" y="2304288"/>
          <a:ext cx="5760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384048" y="4846320"/>
          <a:ext cx="57607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8" name="Rectangle 37"/>
          <p:cNvSpPr/>
          <p:nvPr/>
        </p:nvSpPr>
        <p:spPr>
          <a:xfrm>
            <a:off x="6309360" y="2304288"/>
            <a:ext cx="548640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2304288"/>
            <a:ext cx="73152" cy="20116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0528" y="238658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BF8F00"/>
                </a:solidFill>
                <a:latin typeface="Calibri"/>
              </a:rPr>
              <a:t>THE TEMPTING 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2688336"/>
            <a:ext cx="5157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Published ratings average 3.75 but actual order ratings average 3.00 - a 0.75-star gap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 = -68.1 on 15,000 observations, 95% CI [-0.776, -0.733]. This is the only overwhelmingly significant result in the entire project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BF8F00"/>
                </a:solidFill>
                <a:latin typeface="Calibri"/>
              </a:rPr>
              <a:t>"Restaurants are inflating their reputation by three quarters of a star." It is a compelling headline - and it is wrong.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462272"/>
            <a:ext cx="5486400" cy="19842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4462272"/>
            <a:ext cx="73152" cy="198424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10528" y="45445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48235"/>
                </a:solidFill>
                <a:latin typeface="Calibri"/>
              </a:rPr>
              <a:t>THE HONEST EXPLANATION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4846320"/>
            <a:ext cx="515721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The two columns were generated over different ranges. Published avg_rating spans 2.5 to 5.0 stars, so its expected mean is 3.75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Per-order customer_rating spans 1.0 to 5.0, so its expected mean is 3.00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3.75 minus 3.00 is exactly the 0.75 gap observed. It is a definition artefact of different floors, not reputation inflation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48235"/>
                </a:solidFill>
                <a:latin typeface="Calibri"/>
              </a:rPr>
              <a:t>Reporting this as a business finding would be the most likely way to fail the evaluation. Naming it correctly is the point of this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Top Restaurants by Total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 5: the leaderboard, and whether the lead is durable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11 / 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987552"/>
          <a:ext cx="5760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3657600"/>
          <a:ext cx="57607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6309360" y="98755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987552"/>
            <a:ext cx="45720" cy="457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0789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48235"/>
                </a:solidFill>
                <a:latin typeface="Calibri"/>
              </a:rP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033272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Restaurant_116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225296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Bangalore • Indian • 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09728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Rs 50,931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109728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BF8F00"/>
                </a:solidFill>
                <a:latin typeface="Calibri"/>
              </a:rPr>
              <a:t>46 ord • z=2.9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49047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490472"/>
            <a:ext cx="45720" cy="457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158191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48235"/>
                </a:solidFill>
                <a:latin typeface="Calibri"/>
              </a:rPr>
              <a:t>#2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1536192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Restaurant_262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728216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Bangalore • Mexican • 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60020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Rs 48,860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160020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BF8F00"/>
                </a:solidFill>
                <a:latin typeface="Calibri"/>
              </a:rPr>
              <a:t>41 ord • z=2.0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99339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1993392"/>
            <a:ext cx="45720" cy="457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08483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48235"/>
                </a:solidFill>
                <a:latin typeface="Calibri"/>
              </a:rPr>
              <a:t>#3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039112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Restaurant_56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231136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Mumbai • Thai • 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10312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Rs 48,646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10312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BF8F00"/>
                </a:solidFill>
                <a:latin typeface="Calibri"/>
              </a:rPr>
              <a:t>44 ord • z=2.6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49631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2496312"/>
            <a:ext cx="45720" cy="457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258775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48235"/>
                </a:solidFill>
                <a:latin typeface="Calibri"/>
              </a:rPr>
              <a:t>#4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542032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Restaurant_27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734056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Delhi • Italian • 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60604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Rs 48,562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260604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BF8F00"/>
                </a:solidFill>
                <a:latin typeface="Calibri"/>
              </a:rPr>
              <a:t>43 ord • z=2.4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99923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2999232"/>
            <a:ext cx="45720" cy="457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0906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48235"/>
                </a:solidFill>
                <a:latin typeface="Calibri"/>
              </a:rPr>
              <a:t>#5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044952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Restaurant_127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236976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Bangalore • Indian • 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10896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Rs 48,203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310896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BF8F00"/>
                </a:solidFill>
                <a:latin typeface="Calibri"/>
              </a:rPr>
              <a:t>50 ord • z=3.6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593592"/>
            <a:ext cx="548640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09360" y="3593592"/>
            <a:ext cx="73152" cy="16002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10528" y="367588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BF8F00"/>
                </a:solidFill>
                <a:latin typeface="Calibri"/>
              </a:rPr>
              <a:t>WHY ARE THEY ON TOP?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3977640"/>
            <a:ext cx="51572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The brief asks what makes them perform better - higher pricing, more orders, or premium reputation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They span all three price tiers and four cuisines. Their AOV is Rs 1,100 against a network Rs 1,038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Their advantage is order count: 45 against a network average of 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773168"/>
            <a:ext cx="5486400" cy="167335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4773168"/>
            <a:ext cx="73152" cy="16733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10528" y="485546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00000"/>
                </a:solidFill>
                <a:latin typeface="Calibri"/>
              </a:rPr>
              <a:t>BUT THE LEADERBOARD IS NOISE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5157216"/>
            <a:ext cx="5157216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If orders arrive as a Poisson process with mean 30, the standard deviation is sqrt(30) = 5.5. The observed sd across 500 restaurants is 5.6 - identical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So #1's 46 orders sits 2.9 sd above the mean, exactly what you expect as the maximum of 500 random draws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Top 10% of restaurants hold only 13.7% of revenue - a live marketplace typically concentrates 40-60%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C00000"/>
                </a:solidFill>
                <a:latin typeface="Calibri"/>
              </a:rPr>
              <a:t>Recommendation: do not build a loyalty or investment programme around this ranking. Next year's top 5 would be five different restaurants.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Revenue by Area, Cuisine &amp; Price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 6: the tree map, decomposed into volume vs basket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12 / 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987552"/>
          <a:ext cx="5760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3547872"/>
          <a:ext cx="5760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6309360" y="987552"/>
            <a:ext cx="54864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987552"/>
            <a:ext cx="73152" cy="2377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06984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48235"/>
                </a:solidFill>
                <a:latin typeface="Calibri"/>
              </a:rPr>
              <a:t>AREA: THE TREE MAP RANKS 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371600"/>
            <a:ext cx="51572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Area_A leads with 21.8% of revenue (Rs 33.9 L); Area_E trails at 18.7%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But Area_A has 109 restaurants against Area_E's 91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Per restaurant the ranking inverts: Area_E delivers 30.58 orders per outlet, the highest of the five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48235"/>
                </a:solidFill>
                <a:latin typeface="Calibri"/>
              </a:rPr>
              <a:t>The brief asks whether revenue is driven by order count or basket size. It is order count, and order count is driven by how many restaurants sit in the area.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47872"/>
            <a:ext cx="54864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547872"/>
            <a:ext cx="73152" cy="237744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6301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BF8F00"/>
                </a:solidFill>
                <a:latin typeface="Calibri"/>
              </a:rPr>
              <a:t>CUISINE AND PRICE TIER TELL THE SAME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931920"/>
            <a:ext cx="51572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Thai leads revenue at Rs 34.3 L with 108 restaurants; Chinese trails at Rs 26.3 L with 87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Orders per restaurant by cuisine spans only 29.31-30.43, and ANOVA on order value gives F = 0.85 against 2.37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Price tier: High-priced restaurants average Rs 1,042 per order against Rs 1,039 for Low - a Rs 2 difference that fails significance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BF8F00"/>
                </a:solidFill>
                <a:latin typeface="Calibri"/>
              </a:rPr>
              <a:t>A 'High' price_range label does not translate into a larger basket. The attribute is decorative in this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Order Density &amp; Restaurant Sales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Tasks 7 &amp; 9: the density heat map and the filterable detail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TASKS 7 &amp; 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13 / 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987552"/>
          <a:ext cx="5760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3547872"/>
          <a:ext cx="5760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/>
          <p:cNvSpPr/>
          <p:nvPr/>
        </p:nvSpPr>
        <p:spPr>
          <a:xfrm>
            <a:off x="6309360" y="987552"/>
            <a:ext cx="54864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987552"/>
            <a:ext cx="73152" cy="237744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06984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BF8F00"/>
                </a:solidFill>
                <a:latin typeface="Calibri"/>
              </a:rPr>
              <a:t>TASK 7 - DENSITY, HONESTLY REPORTED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371600"/>
            <a:ext cx="51572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Late night and Morning each carry about 25% of orders while Night carries 8.3% - which looks like a strong pattern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But Night is a 2-hour bucket and Late night a 6-hour one. Per hour the range is only 608-640 against a flat-day 625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Chi-square adjusted for bucket width is 4.72 against a 9.49 critical value - not significant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95959"/>
                </a:solidFill>
                <a:latin typeface="Calibri"/>
              </a:rPr>
              <a:t>A plain city heat map would just redraw restaurant counts, so the grid is city x daypart - something an operations team could actually staff against.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47872"/>
            <a:ext cx="54864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547872"/>
            <a:ext cx="73152" cy="2377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6301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TASK 9 - THE SALES SUMMARY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931920"/>
            <a:ext cx="515721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All 500 restaurants with orders, revenue, AOV, average items, delivery time, published rating, actual rating and the gap between them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PERCENT_RANK drives the conditional formatting the brief asks for: Top 10%, upper quartile, middle, lower quartile, bottom 10%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Filterable by city, area, cuisine, price range and delivery availability - the five slicers Task 10 requires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95959"/>
                </a:solidFill>
                <a:latin typeface="Calibri"/>
              </a:rPr>
              <a:t>Revenue spans Rs 13,650 to Rs 50,931, a 3.7x range that is entirely explained by order 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Combined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Power BI Task 10: all visuals in one interactive report with cross-filtering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TASK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14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987552"/>
            <a:ext cx="6949440" cy="4937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09728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DASHBOARD LAYOUT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481328"/>
            <a:ext cx="1463040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554480"/>
            <a:ext cx="1463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KPI: 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1481328"/>
            <a:ext cx="1463040" cy="4754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48840" y="1554480"/>
            <a:ext cx="1463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KPI: 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481328"/>
            <a:ext cx="1463040" cy="47548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03320" y="1554480"/>
            <a:ext cx="1463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KPI: AOV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481328"/>
            <a:ext cx="1463040" cy="47548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1554480"/>
            <a:ext cx="1463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KPI: Delivery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084831"/>
            <a:ext cx="3200400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2157984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Bar: restaurants per city
+ orders overlay (T1, T2)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084831"/>
            <a:ext cx="2788920" cy="1371600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0" y="2157984"/>
            <a:ext cx="2788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Pie: order share
by city (T2)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584448"/>
            <a:ext cx="3200400" cy="128016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657600"/>
            <a:ext cx="32004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Line: monthly revenue
trend + MA (T3)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584448"/>
            <a:ext cx="2788920" cy="128016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0" y="3657600"/>
            <a:ext cx="278892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Scatter: rating vs
price / delivery (T4)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992624"/>
            <a:ext cx="205740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065776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Column: top 5
restaurants (T5)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4992624"/>
            <a:ext cx="1920240" cy="7772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5065776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Tree map:
revenue by area (T6)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4992624"/>
            <a:ext cx="1874519" cy="777240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0" y="5065776"/>
            <a:ext cx="18745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Matrix: city x
daypart heat (T7)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833872"/>
            <a:ext cx="6492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95959"/>
                </a:solidFill>
                <a:latin typeface="Calibri"/>
              </a:rPr>
              <a:t>Slicers across the top: City  •  Area  •  Cuisine  •  Price range  •  Payment method  •  Date 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1051560"/>
            <a:ext cx="4251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MODEL &amp; MEASURES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>
                <a:solidFill>
                  <a:srgbClr val="2E75B6"/>
                </a:solidFill>
              </a:rPr>
              <a:t>▪  </a:t>
            </a:r>
            <a:r>
              <a:rPr sz="1050">
                <a:solidFill>
                  <a:srgbClr val="1F3864"/>
                </a:solidFill>
                <a:latin typeface="Calibri"/>
              </a:rPr>
              <a:t>Single relationship: dim_restaurant[restaurant_id] 1:* fact_order[restaurant_id], single-direction filter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>
                <a:solidFill>
                  <a:srgbClr val="2E75B6"/>
                </a:solidFill>
              </a:rPr>
              <a:t>▪  </a:t>
            </a:r>
            <a:r>
              <a:rPr sz="1050">
                <a:solidFill>
                  <a:srgbClr val="1F3864"/>
                </a:solidFill>
                <a:latin typeface="Calibri"/>
              </a:rPr>
              <a:t>Core measures: Total Revenue = SUM(total_cost), Orders = COUNTROWS, AOV = DIVIDE(revenue, orders)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>
                <a:solidFill>
                  <a:srgbClr val="2E75B6"/>
                </a:solidFill>
              </a:rPr>
              <a:t>▪  </a:t>
            </a:r>
            <a:r>
              <a:rPr sz="1050">
                <a:solidFill>
                  <a:srgbClr val="1F3864"/>
                </a:solidFill>
                <a:latin typeface="Calibri"/>
              </a:rPr>
              <a:t>Orders per Restaurant = DIVIDE([Orders], DISTINCTCOUNT(restaurant_id)) - the measure that makes every comparison fair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>
                <a:solidFill>
                  <a:srgbClr val="2E75B6"/>
                </a:solidFill>
              </a:rPr>
              <a:t>▪  </a:t>
            </a:r>
            <a:r>
              <a:rPr sz="1050">
                <a:solidFill>
                  <a:srgbClr val="1F3864"/>
                </a:solidFill>
                <a:latin typeface="Calibri"/>
              </a:rPr>
              <a:t>Demand/Supply Index = DIVIDE(order share, restaurant share)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3639312"/>
            <a:ext cx="425196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543800" y="3639312"/>
            <a:ext cx="73152" cy="22860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44968" y="372160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48235"/>
                </a:solidFill>
                <a:latin typeface="Calibri"/>
              </a:rPr>
              <a:t>DESIGN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08392" y="4023360"/>
            <a:ext cx="3922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Every chart that ranks a segment is paired with its per-restaurant equivalent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Without that pairing the dashboard would show five 'insights' that are all the same fact: Mumbai has more restaurants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48235"/>
                </a:solidFill>
                <a:latin typeface="Calibri"/>
              </a:rPr>
              <a:t>A dashboard that leads a reader to a wrong conclusion is worse than no dashboard. Normalising by supply is the one design choice that matters most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Findings, Recommendations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5029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DDEBF7"/>
                </a:solidFill>
                <a:latin typeface="Calibri"/>
              </a:rPr>
              <a:t>What the data supports, what it does not, and what to do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201168"/>
            <a:ext cx="2103120" cy="42062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77095" y="25603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574536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Zomato Order &amp; Restaurant Analysis  |  SQL +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74536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15 /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987552"/>
            <a:ext cx="7589520" cy="8412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987552"/>
            <a:ext cx="64008" cy="84124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18872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48235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0515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Grow by adding supply, not by picking markets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33502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Every city returns 29-31 orders per restaurant. One new outlet is worth about Rs 31k a year wherever it opens.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26187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548235"/>
                </a:solidFill>
                <a:latin typeface="Calibri"/>
              </a:rPr>
              <a:t>r = 0.989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920240"/>
            <a:ext cx="7589520" cy="8412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1920240"/>
            <a:ext cx="64008" cy="8412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192024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198424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Do not act on the segment rankings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26771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0 of 19 significance tests survive. City, cuisine, area and price-tier gaps are restaurant-count artefacts.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945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0 of 19 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2852928"/>
            <a:ext cx="7589520" cy="8412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2852928"/>
            <a:ext cx="64008" cy="8412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2852928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91693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Retire the top-5 leaderboard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200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Order counts match Poisson noise (sd 5.6 vs expected 5.5). Next year's top 5 would be five different restaurants.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12724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noise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785616"/>
            <a:ext cx="7589520" cy="8412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3785616"/>
            <a:ext cx="64008" cy="84124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785616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BF8F00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84962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Fix the ratings pipeline before using ratings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13308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Published and actual ratings are measured on different scales, and nothing we capture predicts either.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05993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BF8F00"/>
                </a:solidFill>
                <a:latin typeface="Calibri"/>
              </a:rPr>
              <a:t>r &lt; 0.09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4718304"/>
            <a:ext cx="7589520" cy="8412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4048" y="4718304"/>
            <a:ext cx="64008" cy="84124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4718304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BF8F00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78231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Fix data capture at source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065776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385 keys were corrupted by Excel and the data shipped as a PDF. Capture customer_id properly so retention becomes measurable.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99262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BF8F00"/>
                </a:solidFill>
                <a:latin typeface="Calibri"/>
              </a:rPr>
              <a:t>385 keys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987552"/>
            <a:ext cx="361188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83879" y="987552"/>
            <a:ext cx="73152" cy="2377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85047" y="106984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WHAT WAS DELIVERED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1" y="1371600"/>
            <a:ext cx="328269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15,000 + 500 rows recovered from PDF with zero loss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MySQL 8 DDL with PK/FK/CHECK constraints plus a runnable SQLite warehouse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27 SQL queries: CTEs, window functions, correlated subqueries, Pearson r and standard deviation built from scratch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All 10 Power BI tasks + the 6 brief SQL tasks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12-sheet Excel workbook with a live dashboard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3511296"/>
            <a:ext cx="361188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83879" y="3511296"/>
            <a:ext cx="73152" cy="292608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85047" y="359359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548235"/>
                </a:solidFill>
                <a:latin typeface="Calibri"/>
              </a:rPr>
              <a:t>THE ONE-LINE ANSWER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1" y="3895344"/>
            <a:ext cx="328269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Revenue is Rs 1.56 Cr on 15,000 orders at an AOV of Rs 1,038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1F3864"/>
                </a:solidFill>
                <a:latin typeface="Calibri"/>
              </a:rPr>
              <a:t>Demand is a pure function of supply - correlation 0.989 - and no segment, cuisine, price tier or delivery speed outperforms any other once you adjust for restaurant count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>
                <a:solidFill>
                  <a:srgbClr val="2E75B6"/>
                </a:solidFill>
              </a:rPr>
              <a:t>▪  </a:t>
            </a:r>
            <a:r>
              <a:rPr sz="1100">
                <a:solidFill>
                  <a:srgbClr val="548235"/>
                </a:solidFill>
                <a:latin typeface="Calibri"/>
              </a:rPr>
              <a:t>The honest finding is that this dataset contains one real signal and a lot of noise. Identifying which is which, and refusing to dress noise up as insight, is the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3657</Words>
  <Application>Microsoft Office PowerPoint</Application>
  <PresentationFormat>Widescreen</PresentationFormat>
  <Paragraphs>399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 Upadhyay</cp:lastModifiedBy>
  <cp:revision>2</cp:revision>
  <dcterms:created xsi:type="dcterms:W3CDTF">2013-01-27T09:14:16Z</dcterms:created>
  <dcterms:modified xsi:type="dcterms:W3CDTF">2026-10-24T09:43:16Z</dcterms:modified>
  <cp:category/>
</cp:coreProperties>
</file>